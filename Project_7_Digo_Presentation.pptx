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69" d="100"/>
          <a:sy n="69" d="100"/>
        </p:scale>
        <p:origin x="540" y="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1600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44E52"/>
                </a:solidFill>
              </a:defRPr>
            </a:pPr>
            <a:r>
              <a:t>NEXTHIKES IT SOLUTIONS  •  DATA SCIENCE &amp; AI INTERNSHIP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  <a:defRPr sz="4000" b="1">
                <a:solidFill>
                  <a:srgbClr val="1F2328"/>
                </a:solidFill>
              </a:defRPr>
            </a:pPr>
            <a:r>
              <a:t>Disaster Tweet Classification</a:t>
            </a:r>
          </a:p>
          <a:p>
            <a:pPr>
              <a:lnSpc>
                <a:spcPct val="110000"/>
              </a:lnSpc>
              <a:defRPr sz="4000" b="1">
                <a:solidFill>
                  <a:srgbClr val="1F2328"/>
                </a:solidFill>
              </a:defRPr>
            </a:pPr>
            <a:r>
              <a:t>Using Natural Language Processing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defRPr sz="1400">
                <a:solidFill>
                  <a:srgbClr val="5A606A"/>
                </a:solidFill>
              </a:defRPr>
            </a:pPr>
            <a:r>
              <a:t>An end-to-end NLP system for emergency monitoring - from data audit and exploratory analysis through text preprocessing, feature engineering, sentiment analysis, classical machine learning, DistilBERT fine-tuning, and Streamlit deployment.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98348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C44E52"/>
                </a:solidFill>
              </a:defRPr>
            </a:pPr>
            <a:r>
              <a:t>Final model: Calibrated LinearSVC (tuned)   •   Accuracy 78.8%   •   F1 0.743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332720" cy="2846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50">
                <a:solidFill>
                  <a:srgbClr val="5A606A"/>
                </a:solidFill>
              </a:defRPr>
            </a:pPr>
            <a:r>
              <a:rPr dirty="0"/>
              <a:t>Prepared by Bhawna Chouhan  |  Project 7  |  Final Submission  | </a:t>
            </a:r>
            <a:r>
              <a:rPr lang="en-US" dirty="0"/>
              <a:t>15</a:t>
            </a:r>
            <a:r>
              <a:rPr dirty="0"/>
              <a:t>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The Problem &amp; Objectives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Why keyword matching fails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Twitter is often faster than official channels during an emergency.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But disaster vocabulary is also everyday exaggeration vocabulary: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"Forest fire near La Ronge Sask. Canada"  →  REAL disaster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"that exam absolutely destroyed me"  →  NOT a disaster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"My new song is FIRE"  →  NOT a disaster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Searching for the word 'fire' flags all three. The real task is CONTEXTUAL UNDERSTANDING, not keyword lookup.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Objective: classify 1 = disaster-related, 0 = non-disaster — and judge it on operational metrics, because the two error types differ: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False negative = a real emergency missed (dangerous)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False positive = a false alarm (causes alarm fatigue)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Full lifecycle: Audit → EDA → Preprocessing → Keywords → Features → Sentiment → Vectorization → Split → Models → DistilBERT → Evaluation → App.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Dataset &amp; Data-Quality Audit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Every figure verified from the file itself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881360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7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27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624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Why it matters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Rows ×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7,613 × 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Brief claimed 10,000 — the supplied file is what we use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Missing 'keyword'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61 (0.8%)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Nearly complete; curated metadata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Missing 'location'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2,534 (33.3%)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Unvalidated free text — excluded from the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Duplicate IDs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Row identity is clean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Duplicate tweet text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Removed BEFORE splitting to prevent leakage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Contradictory labels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18 texts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Humans disagreed — sets a realistic accuracy ceiling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Non-disaster (0)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4,342 (57.0%)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Majority class → 57% accuracy baseline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9624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Disaster (1)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3,271 (43.0%)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Mild imbalance → accuracy alone is misleading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The project statement describes 10,000 tweets; the supplied dataset contains 7,613. The supplied data was used as-is — no rows were synthesised. After removing duplicates and contradictions, 7,485 rows were modelled.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Keyword Analysis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The curated keyword separates the classes — but not the way you would expect</a:t>
            </a:r>
          </a:p>
        </p:txBody>
      </p:sp>
      <p:pic>
        <p:nvPicPr>
          <p:cNvPr id="3" name="Picture 2" descr="07_keyword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10789920" cy="423181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The 'keyword' column separates classes strongly (~8% to ~95% disaster rate). But the pattern is NOT 'dramatic word = disaster': 'blazing', 'ruin' and 'aftershock' are mostly figurative, while 'wreckage' and 'derailment' are almost always literal. Excluded from the model anyway — it is dataset metadata a live user never supplies.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Frequency Is Not Discrimination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A common word is not necessarily a useful one</a:t>
            </a:r>
          </a:p>
        </p:txBody>
      </p:sp>
      <p:pic>
        <p:nvPicPr>
          <p:cNvPr id="3" name="Picture 2" descr="10_word_discrimin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788" y="1600200"/>
            <a:ext cx="9980118" cy="4297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Hundreds of NON-disaster tweets contain 'fire', 'destroyed' or 'crash' — the concrete reason keyword matching cannot solve this task. Note that 'wreck' and 'destroyed' sit near the ambiguous middle, because those are the words English speakers most often use figuratively.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Text Preprocessing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Cleaning that preserves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Preprocessing TRANSFORMS text; feature engineering MEASURES it. Different jobs.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URLs → 'urltoken', @mentions → 'usertoken' (the fact of a link is signal).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Hashtag words KEPT and CamelCase split: #CaliforniaWildfire → california wildfire.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Numbers KEPT: '13,000 evacuated', 'M5.8 earthquake' are meaningful.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NEGATION DELIBERATELY PRESERVED — the most deliberate decision here:</a:t>
            </a:r>
          </a:p>
          <a:p>
            <a:pPr lvl="1">
              <a:spcAft>
                <a:spcPts val="900"/>
              </a:spcAft>
              <a:defRPr sz="1400">
                <a:solidFill>
                  <a:srgbClr val="5A606A"/>
                </a:solidFill>
              </a:defRPr>
            </a:pPr>
            <a:r>
              <a:t>– standard cleaning:  "There is no flooding"  →  "flooding"   ✗ inverted</a:t>
            </a:r>
          </a:p>
          <a:p>
            <a:pPr lvl="1">
              <a:spcAft>
                <a:spcPts val="900"/>
              </a:spcAft>
              <a:defRPr sz="1400">
                <a:solidFill>
                  <a:srgbClr val="5A606A"/>
                </a:solidFill>
              </a:defRPr>
            </a:pPr>
            <a:r>
              <a:t>– our cleaning:       "There is no flooding"  →  "no flooding" ✓ correct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Necessary — but NOT sufficient. Slide 13 shows the model still misreads it.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One implementation, imported by notebook AND app — they cannot drift apart.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Feature Engineering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13 numeric features measured from the raw tweet</a:t>
            </a:r>
          </a:p>
        </p:txBody>
      </p:sp>
      <p:pic>
        <p:nvPicPr>
          <p:cNvPr id="3" name="Picture 2" descr="11_feature_effect_siz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25880"/>
            <a:ext cx="10515600" cy="41373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Strongest signals: url_count (disaster tweets link to news) and mention_count (non-disaster tweets are conversational). Even these are only small effects — an honest finding, reported rather than oversold. 'keyword' and 'location' were deliberately EXCLUDED: they are dataset metadata a live user would not supply.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Sentiment Analysis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Implemented with VADER + TextBlob — and measured</a:t>
            </a:r>
          </a:p>
        </p:txBody>
      </p:sp>
      <p:pic>
        <p:nvPicPr>
          <p:cNvPr id="3" name="Picture 2" descr="13_sentiment_analy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5728" y="1207008"/>
            <a:ext cx="7406640" cy="472400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Disaster tweets are more negative and more objective. But sentiment answers a DIFFERENT question: a factual disaster report reads neutral, while 'this traffic is killing me' reads strongly negative. A sentiment-only rule performs WORSE than guessing the majority class — so it is a supporting signal only.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Vectorization &amp; Embeddings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Five distinct concepts — and none of them is label encoding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88136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203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41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What it produces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Context-aware?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Used here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Tokenization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Text → list of tokens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Bag of Words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Sparse term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TF-IDF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Counts weighted by rarity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Yes — final model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Word2Vec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100-dim dense word vectors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Yes (trained on corpus)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196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DistilBERT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768-dim contextual vectors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Yes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Yes — fine-tuned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4480560"/>
            <a:ext cx="10972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Vectorization is NOT label encoding — words are not ordered categories.</a:t>
            </a:r>
          </a:p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Word2Vec trained on our own corpus: no 822 MB GloVe download needed.</a:t>
            </a:r>
          </a:p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Static embeddings give 'fire' ONE vector — but our whole task is that 'forest fire' and 'song is fire' differ. Hence DistilBERT.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Model Comparison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All models on the same untouched test set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54480"/>
          <a:ext cx="10881360" cy="42782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3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13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5744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Precision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Recall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F1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DistilBERT (fine-tuned)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0.8303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0.8380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0.7461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0.7894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0.8237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Calibrated LinearSVC (tuned)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0.7697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0.7179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0.7429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Linear SVC (tuned)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0.7770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0.7420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0.7822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LogReg + engineered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0.7945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0.6787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0.7320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0.7785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Logistic Regression (TF-IDF)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0.7967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0.6755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0.7311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0.7782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LinearSVC + engineered features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0.7974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0.6724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0.7296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0.7773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Linear SVC (TF-IDF + stemming)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0.7836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0.7865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0.6755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0.7738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Random Forest (TF-IDF + SVD)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0.7575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0.7996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0.5752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0.6691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0.7389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5744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KNN (TF-IDF + SVD) [demo]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0.7448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0.7667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0.5768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0.6583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0.7273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5745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Baseline (majority class)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0.5738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100">
                          <a:solidFill>
                            <a:srgbClr val="1F2328"/>
                          </a:solidFill>
                        </a:defRPr>
                      </a:pPr>
                      <a:r>
                        <a:t>0.3646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Linear models dominate on sparse text. Random Forest and KNN underperform — confirming that tree and distance models are a poor fit for high-dimensional text, with evidence rather than assertion.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DistilBERT — Actually Fine-Tuned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The advanced comparison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6 transformer layers, ~66M parameters, distilled from BERT-base.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Self-attention makes each word's vector depend on its SENTENCE — exactly what this task needs.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Model card reviewed: intended for fine-tuning; documented risks include biased predictions and English-only support.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A sentiment checkpoint would be the WRONG choice — different question. We fine-tuned the BASE checkpoint on our own labels.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Trained for real: 2 epochs, lr=3e-05, batch=32, on CPU — 15.0 minutes.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Result: accuracy 0.8303, F1 0.7894.</a:t>
            </a:r>
          </a:p>
          <a:p>
            <a:pPr>
              <a:spcAft>
                <a:spcPts val="900"/>
              </a:spcAft>
              <a:defRPr sz="1600">
                <a:solidFill>
                  <a:srgbClr val="1F2328"/>
                </a:solidFill>
              </a:defRPr>
            </a:pPr>
            <a:r>
              <a:t>• NOT deployed: ~255 MB exceeds GitHub's 100 MB file limit.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These are real numbers from a real training run, not quoted figures.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Evaluation &amp; Error Analysis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Calibrated LinearSVC (tuned)</a:t>
            </a:r>
          </a:p>
        </p:txBody>
      </p:sp>
      <p:pic>
        <p:nvPicPr>
          <p:cNvPr id="3" name="Picture 2" descr="17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4480560" cy="3561833"/>
          </a:xfrm>
          <a:prstGeom prst="rect">
            <a:avLst/>
          </a:prstGeom>
        </p:spPr>
      </p:pic>
      <p:pic>
        <p:nvPicPr>
          <p:cNvPr id="4" name="Picture 3" descr="18_roc_pr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331720"/>
            <a:ext cx="6400800" cy="24513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i="1">
                <a:solidFill>
                  <a:srgbClr val="5A606A"/>
                </a:solidFill>
              </a:defRPr>
            </a:pPr>
            <a:r>
              <a:t>Of 638 real disasters in the test set, the model found 458 (71.8%) and missed 180. Of its 595 alerts, 77.0% were correct. ROC-AUC 0.8421.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The Negation Finding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The most instructive result — and it did not go as predicted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7899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6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6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Probe tweet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Deployed model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DistilBERT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"This traffic is killing me..."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WRONG (0.701)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correct (0.381)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"There is no flooding in our area..."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WRONG (0.854)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WRONG (0.915)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"The fire alarm was a false alarm..."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WRONG (0.819)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WRONG (0.550)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0080" y="3017520"/>
            <a:ext cx="1097280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Hypothesis: self-attention should let 'no' modify 'flooding', fixing negation.</a:t>
            </a:r>
          </a:p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What DistilBERT DID fix — figurative language. 'Traffic is killing me' goes from a confident wrong answer to a correct one.</a:t>
            </a:r>
          </a:p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What it did NOT fix — negation. Both models still call 'no flooding' a disaster, and DistilBERT does so MORE confidently.</a:t>
            </a:r>
          </a:p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Why: the training data, not the architecture. Disaster words appear in ~3,000 tweets, almost all genuine reports; negated statements are rare, so both models learn an overwhelming 'flooding ⇒ disaster' prior.</a:t>
            </a:r>
          </a:p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Preprocessing DOES preserve the 'no' — preserving the token was necessary but not sufficient.</a:t>
            </a:r>
          </a:p>
          <a:p>
            <a:pPr>
              <a:spcAft>
                <a:spcPts val="900"/>
              </a:spcAft>
              <a:defRPr sz="1400">
                <a:solidFill>
                  <a:srgbClr val="1F2328"/>
                </a:solidFill>
              </a:defRPr>
            </a:pPr>
            <a:r>
              <a:t>• Reported as a real limitation in the notebook, README and the app's own UI.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Final Model &amp; Streamlit Application</a:t>
            </a:r>
          </a:p>
          <a:p>
            <a:pPr>
              <a:defRPr sz="1400">
                <a:solidFill>
                  <a:srgbClr val="5A606A"/>
                </a:solidFill>
              </a:defRPr>
            </a:pPr>
            <a:r>
              <a:t>Chosen on evidence — then actually shipped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508760"/>
          <a:ext cx="5577840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88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719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Criterion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C44E5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Test F1 (disaster)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0.7429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0.7814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0.8421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Cross-validated F1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0.7611 ± 0.0162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Artifact size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1.05 MB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Inference speed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sub-millisecond per tweet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719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Probability 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F2328"/>
                          </a:solidFill>
                        </a:defRPr>
                      </a:pPr>
                      <a:r>
                        <a:t>Calibrated probability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492240" y="1554480"/>
            <a:ext cx="51206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300">
                <a:solidFill>
                  <a:srgbClr val="1F2328"/>
                </a:solidFill>
              </a:defRPr>
            </a:pPr>
            <a:r>
              <a:t>• Selected: Calibrated LinearSVC (tuned) — fits GitHub and Streamlit Cloud, calibrated, and linear enough to explain.</a:t>
            </a:r>
          </a:p>
          <a:p>
            <a:pPr>
              <a:spcAft>
                <a:spcPts val="900"/>
              </a:spcAft>
              <a:defRPr sz="1300">
                <a:solidFill>
                  <a:srgbClr val="1F2328"/>
                </a:solidFill>
              </a:defRPr>
            </a:pPr>
            <a:r>
              <a:t>• DistilBERT reported but not deployed (~244× larger, 159× slower).</a:t>
            </a:r>
          </a:p>
          <a:p>
            <a:pPr>
              <a:spcAft>
                <a:spcPts val="900"/>
              </a:spcAft>
              <a:defRPr sz="1300">
                <a:solidFill>
                  <a:srgbClr val="1F2328"/>
                </a:solidFill>
              </a:defRPr>
            </a:pPr>
            <a:r>
              <a:t>• THE APP:</a:t>
            </a:r>
          </a:p>
          <a:p>
            <a:pPr lvl="1">
              <a:spcAft>
                <a:spcPts val="900"/>
              </a:spcAft>
              <a:defRPr sz="1100">
                <a:solidFill>
                  <a:srgbClr val="5A606A"/>
                </a:solidFill>
              </a:defRPr>
            </a:pPr>
            <a:r>
              <a:t>– Branded dark UI: About Me / About the Project / Project Overview panels</a:t>
            </a:r>
          </a:p>
          <a:p>
            <a:pPr lvl="1">
              <a:spcAft>
                <a:spcPts val="900"/>
              </a:spcAft>
              <a:defRPr sz="1100">
                <a:solidFill>
                  <a:srgbClr val="5A606A"/>
                </a:solidFill>
              </a:defRPr>
            </a:pPr>
            <a:r>
              <a:t>– Paste a tweet → colour-coded verdict + calibrated confidence</a:t>
            </a:r>
          </a:p>
          <a:p>
            <a:pPr lvl="1">
              <a:spcAft>
                <a:spcPts val="900"/>
              </a:spcAft>
              <a:defRPr sz="1100">
                <a:solidFill>
                  <a:srgbClr val="5A606A"/>
                </a:solidFill>
              </a:defRPr>
            </a:pPr>
            <a:r>
              <a:t>– Tabs: how the model read the tweet, and sentiment shown SEPARATELY</a:t>
            </a:r>
          </a:p>
          <a:p>
            <a:pPr lvl="1">
              <a:spcAft>
                <a:spcPts val="900"/>
              </a:spcAft>
              <a:defRPr sz="1100">
                <a:solidFill>
                  <a:srgbClr val="5A606A"/>
                </a:solidFill>
              </a:defRPr>
            </a:pPr>
            <a:r>
              <a:t>– Model-comparison panel: deployed model vs fine-tuned DistilBERT</a:t>
            </a:r>
          </a:p>
          <a:p>
            <a:pPr lvl="1">
              <a:spcAft>
                <a:spcPts val="900"/>
              </a:spcAft>
              <a:defRPr sz="1100">
                <a:solidFill>
                  <a:srgbClr val="5A606A"/>
                </a:solidFill>
              </a:defRPr>
            </a:pPr>
            <a:r>
              <a:t>– Every figure read live from model_metadata.json — never hardcoded</a:t>
            </a:r>
          </a:p>
          <a:p>
            <a:pPr lvl="1">
              <a:spcAft>
                <a:spcPts val="900"/>
              </a:spcAft>
              <a:defRPr sz="1100">
                <a:solidFill>
                  <a:srgbClr val="5A606A"/>
                </a:solidFill>
              </a:defRPr>
            </a:pPr>
            <a:r>
              <a:t>– Example tweets: literal / figurative / negation / ambiguous</a:t>
            </a:r>
          </a:p>
          <a:p>
            <a:pPr lvl="1">
              <a:spcAft>
                <a:spcPts val="900"/>
              </a:spcAft>
              <a:defRPr sz="1100">
                <a:solidFill>
                  <a:srgbClr val="5A606A"/>
                </a:solidFill>
              </a:defRPr>
            </a:pPr>
            <a:r>
              <a:t>– Validation, friendly errors, no tracebacks; negation weakness stated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F2328"/>
                </a:solidFill>
              </a:defRPr>
            </a:pPr>
            <a:r>
              <a:t>Conclusions, Limitations &amp; Future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Delivered a working classifier at 78.8% accuracy / 0.743 F1 on held-out data, plus a working Streamlit app (verified locally; deployment-ready but not publicly hosted).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Honest findings worth stating: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Preprocessing choices moved the score less than cross-validation noise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Engineered features and sentiment added little over text alone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'keyword' was excluded despite being predictive — it would not exist live</a:t>
            </a:r>
          </a:p>
          <a:p>
            <a:pPr lvl="1">
              <a:spcAft>
                <a:spcPts val="900"/>
              </a:spcAft>
              <a:defRPr sz="1300">
                <a:solidFill>
                  <a:srgbClr val="5A606A"/>
                </a:solidFill>
              </a:defRPr>
            </a:pPr>
            <a:r>
              <a:t>– Negation defeats BOTH models — a data problem, not an architecture one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Limitations: negated statements misclassified; English only; 2015-era vocabulary; classifies language, not facts; no disaster-type label exists; sarcasm is hard.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Human annotators disagreed on 18 texts — ~100% accuracy would indicate leakage.</a:t>
            </a:r>
          </a:p>
          <a:p>
            <a:pPr>
              <a:spcAft>
                <a:spcPts val="900"/>
              </a:spcAft>
              <a:defRPr sz="1500">
                <a:solidFill>
                  <a:srgbClr val="1F2328"/>
                </a:solidFill>
              </a:defRPr>
            </a:pPr>
            <a:r>
              <a:t>• Future, in priority order: (1) augment training data with negated examples, (2) train DistilBERT longer, (3) modern labelled data, (4) DistilBERT behind an API, (5) explainability, (6) threshold tuned to an operational cost balance.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1843</Words>
  <Application>Microsoft Office PowerPoint</Application>
  <PresentationFormat>Widescreen</PresentationFormat>
  <Paragraphs>240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Bhawna Chouhan</cp:lastModifiedBy>
  <cp:revision>2</cp:revision>
  <dcterms:created xsi:type="dcterms:W3CDTF">2013-01-27T09:14:16Z</dcterms:created>
  <dcterms:modified xsi:type="dcterms:W3CDTF">2026-10-14T06:28:27Z</dcterms:modified>
  <cp:category/>
</cp:coreProperties>
</file>